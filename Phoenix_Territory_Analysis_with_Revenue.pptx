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</a:defRPr>
            </a:pPr>
            <a:r>
              <a:t>Phoenix Branch Reorganization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Territory Analysis with Revenue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Total Active Accounts: 1,699 accounts across 4 territories</a:t>
            </a:r>
          </a:p>
          <a:p>
            <a:pPr>
              <a:spcAft>
                <a:spcPts val="1200"/>
              </a:spcAft>
              <a:defRPr sz="1800"/>
            </a:pPr>
            <a:r>
              <a:t>Total Active Revenue: $3,307,354.33 in annual recurring revenue</a:t>
            </a:r>
          </a:p>
          <a:p>
            <a:pPr>
              <a:spcAft>
                <a:spcPts val="1200"/>
              </a:spcAft>
              <a:defRPr sz="1800"/>
            </a:pPr>
            <a:r>
              <a:t>Total Lost Revenue: $14,668,592.65 from historical churn</a:t>
            </a:r>
          </a:p>
          <a:p>
            <a:pPr>
              <a:spcAft>
                <a:spcPts val="1200"/>
              </a:spcAft>
              <a:defRPr sz="1800"/>
            </a:pPr>
            <a:r>
              <a:t>Overall Revenue Retention: 18.4%</a:t>
            </a:r>
          </a:p>
          <a:p>
            <a:pPr>
              <a:spcAft>
                <a:spcPts val="1200"/>
              </a:spcAft>
              <a:defRPr sz="1800"/>
            </a:pPr>
            <a:r>
              <a:t>Best Performing Territory: East - 27.4% revenue retention, $1.1M active revenue</a:t>
            </a:r>
          </a:p>
          <a:p>
            <a:pPr>
              <a:spcAft>
                <a:spcPts val="1200"/>
              </a:spcAft>
              <a:defRPr sz="1800"/>
            </a:pPr>
            <a:r>
              <a:t>Strategic Focus: Improve retention in West (15.7%) &amp; Central (17.7%) territories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Account Distribution by Territory</a:t>
            </a:r>
          </a:p>
        </p:txBody>
      </p:sp>
      <p:pic>
        <p:nvPicPr>
          <p:cNvPr id="3" name="Picture 2" descr="chart1_acc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Active Annual Revenue by Territory</a:t>
            </a:r>
          </a:p>
        </p:txBody>
      </p:sp>
      <p:pic>
        <p:nvPicPr>
          <p:cNvPr id="3" name="Picture 2" descr="chart9_active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Territory Performance Dashboard</a:t>
            </a:r>
          </a:p>
        </p:txBody>
      </p:sp>
      <p:pic>
        <p:nvPicPr>
          <p:cNvPr id="3" name="Picture 2" descr="chart1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Account vs Revenue Retention Comparison</a:t>
            </a:r>
          </a:p>
        </p:txBody>
      </p:sp>
      <p:pic>
        <p:nvPicPr>
          <p:cNvPr id="3" name="Picture 2" descr="chart10_reten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Active vs Lost Revenue by Territory</a:t>
            </a:r>
          </a:p>
        </p:txBody>
      </p:sp>
      <p:pic>
        <p:nvPicPr>
          <p:cNvPr id="3" name="Picture 2" descr="chart11_revenue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Historical Lost Revenue Analysis</a:t>
            </a:r>
          </a:p>
        </p:txBody>
      </p:sp>
      <p:pic>
        <p:nvPicPr>
          <p:cNvPr id="3" name="Picture 2" descr="chart3_los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Territory Account Share</a:t>
            </a:r>
          </a:p>
        </p:txBody>
      </p:sp>
      <p:pic>
        <p:nvPicPr>
          <p:cNvPr id="3" name="Picture 2" descr="chart7_pi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Account Density (Accounts per Zip Code)</a:t>
            </a:r>
          </a:p>
        </p:txBody>
      </p:sp>
      <p:pic>
        <p:nvPicPr>
          <p:cNvPr id="3" name="Picture 2" descr="chart4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Multi-Factor Performance Comparison</a:t>
            </a:r>
          </a:p>
        </p:txBody>
      </p:sp>
      <p:pic>
        <p:nvPicPr>
          <p:cNvPr id="3" name="Picture 2" descr="chart8_performanc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West Territory - Detailed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Active Accounts: 529</a:t>
            </a:r>
          </a:p>
          <a:p>
            <a:pPr>
              <a:spcAft>
                <a:spcPts val="1200"/>
              </a:spcAft>
              <a:defRPr sz="1800"/>
            </a:pPr>
            <a:r>
              <a:t>Active Annual Revenue: $1,031,328.48</a:t>
            </a:r>
          </a:p>
          <a:p>
            <a:pPr>
              <a:spcAft>
                <a:spcPts val="1200"/>
              </a:spcAft>
              <a:defRPr sz="1800"/>
            </a:pPr>
            <a:r>
              <a:t>Avg Revenue per Account: $1,949.58</a:t>
            </a:r>
          </a:p>
          <a:p>
            <a:pPr>
              <a:spcAft>
                <a:spcPts val="1200"/>
              </a:spcAft>
              <a:defRPr sz="1800"/>
            </a:pPr>
            <a:r>
              <a:t>Zip Codes Covered: 45</a:t>
            </a:r>
          </a:p>
          <a:p>
            <a:pPr>
              <a:spcAft>
                <a:spcPts val="1200"/>
              </a:spcAft>
              <a:defRPr sz="1800"/>
            </a:pPr>
            <a:r>
              <a:t>Accounts per Zip: 11.8</a:t>
            </a:r>
          </a:p>
          <a:p>
            <a:pPr>
              <a:spcAft>
                <a:spcPts val="1200"/>
              </a:spcAft>
              <a:defRPr sz="1800"/>
            </a:pPr>
            <a:r>
              <a:t>Account Retention Rate: 12.82%</a:t>
            </a:r>
          </a:p>
          <a:p>
            <a:pPr>
              <a:spcAft>
                <a:spcPts val="1200"/>
              </a:spcAft>
              <a:defRPr sz="1800"/>
            </a:pPr>
            <a:r>
              <a:t>Revenue Retention Rate: 15.73%</a:t>
            </a:r>
          </a:p>
          <a:p>
            <a:pPr>
              <a:spcAft>
                <a:spcPts val="1200"/>
              </a:spcAft>
              <a:defRPr sz="1800"/>
            </a:pPr>
            <a:r>
              <a:t>Historical Terminated: 3,598</a:t>
            </a:r>
          </a:p>
          <a:p>
            <a:pPr>
              <a:spcAft>
                <a:spcPts val="1200"/>
              </a:spcAft>
              <a:defRPr sz="1800"/>
            </a:pPr>
            <a:r>
              <a:t>Lost Revenue: $5,525,709.28</a:t>
            </a:r>
          </a:p>
          <a:p>
            <a:pPr>
              <a:spcAft>
                <a:spcPts val="1200"/>
              </a:spcAft>
              <a:defRPr sz="1800"/>
            </a:pPr>
            <a:r>
              <a:t>Top Cities: PHOENIX (175), GLENDALE (103), PEORIA (60)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Central Territory - Detailed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Active Accounts: 527</a:t>
            </a:r>
          </a:p>
          <a:p>
            <a:pPr>
              <a:spcAft>
                <a:spcPts val="1200"/>
              </a:spcAft>
              <a:defRPr sz="1800"/>
            </a:pPr>
            <a:r>
              <a:t>Active Annual Revenue: $1,025,981.36</a:t>
            </a:r>
          </a:p>
          <a:p>
            <a:pPr>
              <a:spcAft>
                <a:spcPts val="1200"/>
              </a:spcAft>
              <a:defRPr sz="1800"/>
            </a:pPr>
            <a:r>
              <a:t>Avg Revenue per Account: $1,939.47</a:t>
            </a:r>
          </a:p>
          <a:p>
            <a:pPr>
              <a:spcAft>
                <a:spcPts val="1200"/>
              </a:spcAft>
              <a:defRPr sz="1800"/>
            </a:pPr>
            <a:r>
              <a:t>Zip Codes Covered: 49</a:t>
            </a:r>
          </a:p>
          <a:p>
            <a:pPr>
              <a:spcAft>
                <a:spcPts val="1200"/>
              </a:spcAft>
              <a:defRPr sz="1800"/>
            </a:pPr>
            <a:r>
              <a:t>Accounts per Zip: 10.8</a:t>
            </a:r>
          </a:p>
          <a:p>
            <a:pPr>
              <a:spcAft>
                <a:spcPts val="1200"/>
              </a:spcAft>
              <a:defRPr sz="1800"/>
            </a:pPr>
            <a:r>
              <a:t>Account Retention Rate: 14.94%</a:t>
            </a:r>
          </a:p>
          <a:p>
            <a:pPr>
              <a:spcAft>
                <a:spcPts val="1200"/>
              </a:spcAft>
              <a:defRPr sz="1800"/>
            </a:pPr>
            <a:r>
              <a:t>Revenue Retention Rate: 17.74%</a:t>
            </a:r>
          </a:p>
          <a:p>
            <a:pPr>
              <a:spcAft>
                <a:spcPts val="1200"/>
              </a:spcAft>
              <a:defRPr sz="1800"/>
            </a:pPr>
            <a:r>
              <a:t>Historical Terminated: 3,001</a:t>
            </a:r>
          </a:p>
          <a:p>
            <a:pPr>
              <a:spcAft>
                <a:spcPts val="1200"/>
              </a:spcAft>
              <a:defRPr sz="1800"/>
            </a:pPr>
            <a:r>
              <a:t>Lost Revenue: $4,756,617.26</a:t>
            </a:r>
          </a:p>
          <a:p>
            <a:pPr>
              <a:spcAft>
                <a:spcPts val="1200"/>
              </a:spcAft>
              <a:defRPr sz="1800"/>
            </a:pPr>
            <a:r>
              <a:t>Top Cities: SCOTTSDALE (212), PHOENIX (209), MESA (71)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East Territory - Detailed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Active Accounts: 570</a:t>
            </a:r>
          </a:p>
          <a:p>
            <a:pPr>
              <a:spcAft>
                <a:spcPts val="1200"/>
              </a:spcAft>
              <a:defRPr sz="1800"/>
            </a:pPr>
            <a:r>
              <a:t>Active Annual Revenue: $1,107,730.35</a:t>
            </a:r>
          </a:p>
          <a:p>
            <a:pPr>
              <a:spcAft>
                <a:spcPts val="1200"/>
              </a:spcAft>
              <a:defRPr sz="1800"/>
            </a:pPr>
            <a:r>
              <a:t>Avg Revenue per Account: $1,943.39</a:t>
            </a:r>
          </a:p>
          <a:p>
            <a:pPr>
              <a:spcAft>
                <a:spcPts val="1200"/>
              </a:spcAft>
              <a:defRPr sz="1800"/>
            </a:pPr>
            <a:r>
              <a:t>Zip Codes Covered: 36</a:t>
            </a:r>
          </a:p>
          <a:p>
            <a:pPr>
              <a:spcAft>
                <a:spcPts val="1200"/>
              </a:spcAft>
              <a:defRPr sz="1800"/>
            </a:pPr>
            <a:r>
              <a:t>Accounts per Zip: 15.8</a:t>
            </a:r>
          </a:p>
          <a:p>
            <a:pPr>
              <a:spcAft>
                <a:spcPts val="1200"/>
              </a:spcAft>
              <a:defRPr sz="1800"/>
            </a:pPr>
            <a:r>
              <a:t>Account Retention Rate: 22.99%</a:t>
            </a:r>
          </a:p>
          <a:p>
            <a:pPr>
              <a:spcAft>
                <a:spcPts val="1200"/>
              </a:spcAft>
              <a:defRPr sz="1800"/>
            </a:pPr>
            <a:r>
              <a:t>Revenue Retention Rate: 27.37%</a:t>
            </a:r>
          </a:p>
          <a:p>
            <a:pPr>
              <a:spcAft>
                <a:spcPts val="1200"/>
              </a:spcAft>
              <a:defRPr sz="1800"/>
            </a:pPr>
            <a:r>
              <a:t>Historical Terminated: 1,909</a:t>
            </a:r>
          </a:p>
          <a:p>
            <a:pPr>
              <a:spcAft>
                <a:spcPts val="1200"/>
              </a:spcAft>
              <a:defRPr sz="1800"/>
            </a:pPr>
            <a:r>
              <a:t>Lost Revenue: $2,939,262.55</a:t>
            </a:r>
          </a:p>
          <a:p>
            <a:pPr>
              <a:spcAft>
                <a:spcPts val="1200"/>
              </a:spcAft>
              <a:defRPr sz="1800"/>
            </a:pPr>
            <a:r>
              <a:t>Top Cities: CHANDLER (131), CASA GRANDE (104), GILBERT (104)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Tucson Territory - Detailed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Active Accounts: 73</a:t>
            </a:r>
          </a:p>
          <a:p>
            <a:pPr>
              <a:spcAft>
                <a:spcPts val="1200"/>
              </a:spcAft>
              <a:defRPr sz="1800"/>
            </a:pPr>
            <a:r>
              <a:t>Active Annual Revenue: $142,314.14</a:t>
            </a:r>
          </a:p>
          <a:p>
            <a:pPr>
              <a:spcAft>
                <a:spcPts val="1200"/>
              </a:spcAft>
              <a:defRPr sz="1800"/>
            </a:pPr>
            <a:r>
              <a:t>Avg Revenue per Account: $1,949.51</a:t>
            </a:r>
          </a:p>
          <a:p>
            <a:pPr>
              <a:spcAft>
                <a:spcPts val="1200"/>
              </a:spcAft>
              <a:defRPr sz="1800"/>
            </a:pPr>
            <a:r>
              <a:t>Zip Codes Covered: 26</a:t>
            </a:r>
          </a:p>
          <a:p>
            <a:pPr>
              <a:spcAft>
                <a:spcPts val="1200"/>
              </a:spcAft>
              <a:defRPr sz="1800"/>
            </a:pPr>
            <a:r>
              <a:t>Accounts per Zip: 2.8</a:t>
            </a:r>
          </a:p>
          <a:p>
            <a:pPr>
              <a:spcAft>
                <a:spcPts val="1200"/>
              </a:spcAft>
              <a:defRPr sz="1800"/>
            </a:pPr>
            <a:r>
              <a:t>Account Retention Rate: 100.00%</a:t>
            </a:r>
          </a:p>
          <a:p>
            <a:pPr>
              <a:spcAft>
                <a:spcPts val="1200"/>
              </a:spcAft>
              <a:defRPr sz="1800"/>
            </a:pPr>
            <a:r>
              <a:t>Revenue Retention Rate: 8.95%</a:t>
            </a:r>
          </a:p>
          <a:p>
            <a:pPr>
              <a:spcAft>
                <a:spcPts val="1200"/>
              </a:spcAft>
              <a:defRPr sz="1800"/>
            </a:pPr>
            <a:r>
              <a:t>Historical Terminated: 0</a:t>
            </a:r>
          </a:p>
          <a:p>
            <a:pPr>
              <a:spcAft>
                <a:spcPts val="1200"/>
              </a:spcAft>
              <a:defRPr sz="1800"/>
            </a:pPr>
            <a:r>
              <a:t>Lost Revenue: $1,447,003.56</a:t>
            </a:r>
          </a:p>
          <a:p>
            <a:pPr>
              <a:spcAft>
                <a:spcPts val="1200"/>
              </a:spcAft>
              <a:defRPr sz="1800"/>
            </a:pPr>
            <a:r>
              <a:t>Top Cities: TUCSON (65), MARANA (6), VAIL (2)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Revenue Leadership: East territory leads with $1.1M active revenue and 27% revenue retention</a:t>
            </a:r>
          </a:p>
          <a:p>
            <a:pPr>
              <a:spcAft>
                <a:spcPts val="1200"/>
              </a:spcAft>
              <a:defRPr sz="1800"/>
            </a:pPr>
            <a:r>
              <a:t>West Territory Challenge: Only 15.7% revenue retention, losing $5.5M - critical intervention needed</a:t>
            </a:r>
          </a:p>
          <a:p>
            <a:pPr>
              <a:spcAft>
                <a:spcPts val="1200"/>
              </a:spcAft>
              <a:defRPr sz="1800"/>
            </a:pPr>
            <a:r>
              <a:t>Revenue vs Account Gap: Some territories show different patterns in account vs revenue retention</a:t>
            </a:r>
          </a:p>
          <a:p>
            <a:pPr>
              <a:spcAft>
                <a:spcPts val="1200"/>
              </a:spcAft>
              <a:defRPr sz="1800"/>
            </a:pPr>
            <a:r>
              <a:t>Total Opportunity: $14,668,593 in lost revenue represents recovery opportunity</a:t>
            </a:r>
          </a:p>
          <a:p>
            <a:pPr>
              <a:spcAft>
                <a:spcPts val="1200"/>
              </a:spcAft>
              <a:defRPr sz="1800"/>
            </a:pPr>
            <a:r>
              <a:t>Action Items: Focus retention on high-value accounts; implement revenue-based KPIs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Financial Impact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Current Active Revenue: $3,307,354.33 annual recurring revenue</a:t>
            </a:r>
          </a:p>
          <a:p>
            <a:pPr>
              <a:spcAft>
                <a:spcPts val="1200"/>
              </a:spcAft>
              <a:defRPr sz="1800"/>
            </a:pPr>
            <a:r>
              <a:t>Historical Losses: $14,668,592.65 in churned revenue</a:t>
            </a:r>
          </a:p>
          <a:p>
            <a:pPr>
              <a:spcAft>
                <a:spcPts val="1200"/>
              </a:spcAft>
              <a:defRPr sz="1800"/>
            </a:pPr>
            <a:r>
              <a:t>Recovery Potential: 10% improvement in retention could recover $1.5M+ annually</a:t>
            </a:r>
          </a:p>
          <a:p>
            <a:pPr>
              <a:spcAft>
                <a:spcPts val="1200"/>
              </a:spcAft>
              <a:defRPr sz="1800"/>
            </a:pPr>
            <a:r>
              <a:t>West Territory Priority: Improving West retention by 5% = $275K additional revenue</a:t>
            </a:r>
          </a:p>
          <a:p>
            <a:pPr>
              <a:spcAft>
                <a:spcPts val="1200"/>
              </a:spcAft>
              <a:defRPr sz="1800"/>
            </a:pPr>
            <a:r>
              <a:t>ROI Focus: Retention programs typically deliver 5:1 ROI in pool service industry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1. Territory Launch (Q1 2027): Roll out new structure with revenue tracking by territory</a:t>
            </a:r>
          </a:p>
          <a:p>
            <a:pPr>
              <a:spcAft>
                <a:spcPts val="1200"/>
              </a:spcAft>
              <a:defRPr sz="1800"/>
            </a:pPr>
            <a:r>
              <a:t>2. High-Value Account Programs (Q1 2027): Identify and protect accounts &gt;$2,000 annual value</a:t>
            </a:r>
          </a:p>
          <a:p>
            <a:pPr>
              <a:spcAft>
                <a:spcPts val="1200"/>
              </a:spcAft>
              <a:defRPr sz="1800"/>
            </a:pPr>
            <a:r>
              <a:t>3. West Territory Intervention (Q1-Q2 2027): Deploy retention team and customer success managers</a:t>
            </a:r>
          </a:p>
          <a:p>
            <a:pPr>
              <a:spcAft>
                <a:spcPts val="1200"/>
              </a:spcAft>
              <a:defRPr sz="1800"/>
            </a:pPr>
            <a:r>
              <a:t>4. Revenue-Based KPIs (Q2 2027): Implement monthly revenue retention tracking and alerts</a:t>
            </a:r>
          </a:p>
          <a:p>
            <a:pPr>
              <a:spcAft>
                <a:spcPts val="1200"/>
              </a:spcAft>
              <a:defRPr sz="1800"/>
            </a:pPr>
            <a:r>
              <a:t>5. Best Practice Replication (Q2-Q3 2027): Document and scale East territory's success model</a:t>
            </a:r>
          </a:p>
          <a:p>
            <a:pPr>
              <a:spcAft>
                <a:spcPts val="1200"/>
              </a:spcAft>
              <a:defRPr sz="1800"/>
            </a:pPr>
            <a:r>
              <a:t>6. Continuous Improvement (Ongoing): Quarterly reviews with revenue-focused action plans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