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33333"/>
                </a:solidFill>
              </a:defRPr>
            </a:pPr>
            <a:r>
              <a:t>Phoenix Branch Reorganization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Territory Analysis &amp; Performance Metrics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/>
            </a:pPr>
            <a:r>
              <a:t>Total Active Accounts: 1,699 accounts across 4 territories</a:t>
            </a:r>
          </a:p>
          <a:p>
            <a:pPr>
              <a:spcAft>
                <a:spcPts val="1200"/>
              </a:spcAft>
              <a:defRPr sz="1800"/>
            </a:pPr>
            <a:r>
              <a:t>Total Coverage: 156 zip codes in Phoenix and Tucson metro areas</a:t>
            </a:r>
          </a:p>
          <a:p>
            <a:pPr>
              <a:spcAft>
                <a:spcPts val="1200"/>
              </a:spcAft>
              <a:defRPr sz="1800"/>
            </a:pPr>
            <a:r>
              <a:t>Best Performing Territory: East - 22.99% retention rate</a:t>
            </a:r>
          </a:p>
          <a:p>
            <a:pPr>
              <a:spcAft>
                <a:spcPts val="1200"/>
              </a:spcAft>
              <a:defRPr sz="1800"/>
            </a:pPr>
            <a:r>
              <a:t>Highest Risk Territory: West - 12.82% retention rate, $5.5M lost revenue</a:t>
            </a:r>
          </a:p>
          <a:p>
            <a:pPr>
              <a:spcAft>
                <a:spcPts val="1200"/>
              </a:spcAft>
              <a:defRPr sz="1800"/>
            </a:pPr>
            <a:r>
              <a:t>Strategic Focus: Improve retention in West &amp; Central territories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Account Distribution by Territory</a:t>
            </a:r>
          </a:p>
        </p:txBody>
      </p:sp>
      <p:pic>
        <p:nvPicPr>
          <p:cNvPr id="3" name="Picture 2" descr="chart1_accou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Territory Account Share</a:t>
            </a:r>
          </a:p>
        </p:txBody>
      </p:sp>
      <p:pic>
        <p:nvPicPr>
          <p:cNvPr id="3" name="Picture 2" descr="chart7_pi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Retention Rate Comparison</a:t>
            </a:r>
          </a:p>
        </p:txBody>
      </p:sp>
      <p:pic>
        <p:nvPicPr>
          <p:cNvPr id="3" name="Picture 2" descr="chart2_retention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Historical Account Performance</a:t>
            </a:r>
          </a:p>
        </p:txBody>
      </p:sp>
      <p:pic>
        <p:nvPicPr>
          <p:cNvPr id="3" name="Picture 2" descr="chart5_active_vs_termin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Historical Lost Revenue Analysis</a:t>
            </a:r>
          </a:p>
        </p:txBody>
      </p:sp>
      <p:pic>
        <p:nvPicPr>
          <p:cNvPr id="3" name="Picture 2" descr="chart3_lost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Geographic Coverage by Territory</a:t>
            </a:r>
          </a:p>
        </p:txBody>
      </p:sp>
      <p:pic>
        <p:nvPicPr>
          <p:cNvPr id="3" name="Picture 2" descr="chart6_zip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Account Density (Accounts per Zip Code)</a:t>
            </a:r>
          </a:p>
        </p:txBody>
      </p:sp>
      <p:pic>
        <p:nvPicPr>
          <p:cNvPr id="3" name="Picture 2" descr="chart4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Multi-Factor Performance Comparison</a:t>
            </a:r>
          </a:p>
        </p:txBody>
      </p:sp>
      <p:pic>
        <p:nvPicPr>
          <p:cNvPr id="3" name="Picture 2" descr="chart8_performance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West Territory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/>
            </a:pPr>
            <a:r>
              <a:t>Active Accounts: 529</a:t>
            </a:r>
          </a:p>
          <a:p>
            <a:pPr>
              <a:spcAft>
                <a:spcPts val="1200"/>
              </a:spcAft>
              <a:defRPr sz="1800"/>
            </a:pPr>
            <a:r>
              <a:t>Zip Codes Covered: 45</a:t>
            </a:r>
          </a:p>
          <a:p>
            <a:pPr>
              <a:spcAft>
                <a:spcPts val="1200"/>
              </a:spcAft>
              <a:defRPr sz="1800"/>
            </a:pPr>
            <a:r>
              <a:t>Accounts per Zip: 11.8</a:t>
            </a:r>
          </a:p>
          <a:p>
            <a:pPr>
              <a:spcAft>
                <a:spcPts val="1200"/>
              </a:spcAft>
              <a:defRPr sz="1800"/>
            </a:pPr>
            <a:r>
              <a:t>Retention Rate: 12.82%</a:t>
            </a:r>
          </a:p>
          <a:p>
            <a:pPr>
              <a:spcAft>
                <a:spcPts val="1200"/>
              </a:spcAft>
              <a:defRPr sz="1800"/>
            </a:pPr>
            <a:r>
              <a:t>Historical Terminated: 3,598</a:t>
            </a:r>
          </a:p>
          <a:p>
            <a:pPr>
              <a:spcAft>
                <a:spcPts val="1200"/>
              </a:spcAft>
              <a:defRPr sz="1800"/>
            </a:pPr>
            <a:r>
              <a:t>Lost Revenue: $5,525,709.28</a:t>
            </a:r>
          </a:p>
          <a:p>
            <a:pPr>
              <a:spcAft>
                <a:spcPts val="1200"/>
              </a:spcAft>
              <a:defRPr sz="1800"/>
            </a:pPr>
            <a:r>
              <a:t>Top Cities: PHOENIX (175), GLENDALE (103), PEORIA (60)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Central Territory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/>
            </a:pPr>
            <a:r>
              <a:t>Active Accounts: 527</a:t>
            </a:r>
          </a:p>
          <a:p>
            <a:pPr>
              <a:spcAft>
                <a:spcPts val="1200"/>
              </a:spcAft>
              <a:defRPr sz="1800"/>
            </a:pPr>
            <a:r>
              <a:t>Zip Codes Covered: 49</a:t>
            </a:r>
          </a:p>
          <a:p>
            <a:pPr>
              <a:spcAft>
                <a:spcPts val="1200"/>
              </a:spcAft>
              <a:defRPr sz="1800"/>
            </a:pPr>
            <a:r>
              <a:t>Accounts per Zip: 10.8</a:t>
            </a:r>
          </a:p>
          <a:p>
            <a:pPr>
              <a:spcAft>
                <a:spcPts val="1200"/>
              </a:spcAft>
              <a:defRPr sz="1800"/>
            </a:pPr>
            <a:r>
              <a:t>Retention Rate: 14.94%</a:t>
            </a:r>
          </a:p>
          <a:p>
            <a:pPr>
              <a:spcAft>
                <a:spcPts val="1200"/>
              </a:spcAft>
              <a:defRPr sz="1800"/>
            </a:pPr>
            <a:r>
              <a:t>Historical Terminated: 3,001</a:t>
            </a:r>
          </a:p>
          <a:p>
            <a:pPr>
              <a:spcAft>
                <a:spcPts val="1200"/>
              </a:spcAft>
              <a:defRPr sz="1800"/>
            </a:pPr>
            <a:r>
              <a:t>Lost Revenue: $4,756,617.26</a:t>
            </a:r>
          </a:p>
          <a:p>
            <a:pPr>
              <a:spcAft>
                <a:spcPts val="1200"/>
              </a:spcAft>
              <a:defRPr sz="1800"/>
            </a:pPr>
            <a:r>
              <a:t>Top Cities: SCOTTSDALE (212), PHOENIX (209), MESA (71)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East Territory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/>
            </a:pPr>
            <a:r>
              <a:t>Active Accounts: 570</a:t>
            </a:r>
          </a:p>
          <a:p>
            <a:pPr>
              <a:spcAft>
                <a:spcPts val="1200"/>
              </a:spcAft>
              <a:defRPr sz="1800"/>
            </a:pPr>
            <a:r>
              <a:t>Zip Codes Covered: 36</a:t>
            </a:r>
          </a:p>
          <a:p>
            <a:pPr>
              <a:spcAft>
                <a:spcPts val="1200"/>
              </a:spcAft>
              <a:defRPr sz="1800"/>
            </a:pPr>
            <a:r>
              <a:t>Accounts per Zip: 15.8</a:t>
            </a:r>
          </a:p>
          <a:p>
            <a:pPr>
              <a:spcAft>
                <a:spcPts val="1200"/>
              </a:spcAft>
              <a:defRPr sz="1800"/>
            </a:pPr>
            <a:r>
              <a:t>Retention Rate: 22.99%</a:t>
            </a:r>
          </a:p>
          <a:p>
            <a:pPr>
              <a:spcAft>
                <a:spcPts val="1200"/>
              </a:spcAft>
              <a:defRPr sz="1800"/>
            </a:pPr>
            <a:r>
              <a:t>Historical Terminated: 1,909</a:t>
            </a:r>
          </a:p>
          <a:p>
            <a:pPr>
              <a:spcAft>
                <a:spcPts val="1200"/>
              </a:spcAft>
              <a:defRPr sz="1800"/>
            </a:pPr>
            <a:r>
              <a:t>Lost Revenue: $2,939,262.55</a:t>
            </a:r>
          </a:p>
          <a:p>
            <a:pPr>
              <a:spcAft>
                <a:spcPts val="1200"/>
              </a:spcAft>
              <a:defRPr sz="1800"/>
            </a:pPr>
            <a:r>
              <a:t>Top Cities: CHANDLER (131), CASA GRANDE (104), GILBERT (104)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Tucson Territory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/>
            </a:pPr>
            <a:r>
              <a:t>Active Accounts: 73</a:t>
            </a:r>
          </a:p>
          <a:p>
            <a:pPr>
              <a:spcAft>
                <a:spcPts val="1200"/>
              </a:spcAft>
              <a:defRPr sz="1800"/>
            </a:pPr>
            <a:r>
              <a:t>Zip Codes Covered: 26</a:t>
            </a:r>
          </a:p>
          <a:p>
            <a:pPr>
              <a:spcAft>
                <a:spcPts val="1200"/>
              </a:spcAft>
              <a:defRPr sz="1800"/>
            </a:pPr>
            <a:r>
              <a:t>Accounts per Zip: 2.8</a:t>
            </a:r>
          </a:p>
          <a:p>
            <a:pPr>
              <a:spcAft>
                <a:spcPts val="1200"/>
              </a:spcAft>
              <a:defRPr sz="1800"/>
            </a:pPr>
            <a:r>
              <a:t>Retention Rate: 100.00%</a:t>
            </a:r>
          </a:p>
          <a:p>
            <a:pPr>
              <a:spcAft>
                <a:spcPts val="1200"/>
              </a:spcAft>
              <a:defRPr sz="1800"/>
            </a:pPr>
            <a:r>
              <a:t>Historical Terminated: 0</a:t>
            </a:r>
          </a:p>
          <a:p>
            <a:pPr>
              <a:spcAft>
                <a:spcPts val="1200"/>
              </a:spcAft>
              <a:defRPr sz="1800"/>
            </a:pPr>
            <a:r>
              <a:t>Lost Revenue: $0.00</a:t>
            </a:r>
          </a:p>
          <a:p>
            <a:pPr>
              <a:spcAft>
                <a:spcPts val="1200"/>
              </a:spcAft>
              <a:defRPr sz="1800"/>
            </a:pPr>
            <a:r>
              <a:t>Top Cities: TUCSON (65), MARANA (6), VAIL (2)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Key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/>
            </a:pPr>
            <a:r>
              <a:t>East Territory Success: Highest retention (23%) and density (15.8 accts/zip) - replicate best practices</a:t>
            </a:r>
          </a:p>
          <a:p>
            <a:pPr>
              <a:spcAft>
                <a:spcPts val="1200"/>
              </a:spcAft>
              <a:defRPr sz="1800"/>
            </a:pPr>
            <a:r>
              <a:t>West Territory Challenge: Lowest retention (12.8%) with highest churn - requires immediate attention</a:t>
            </a:r>
          </a:p>
          <a:p>
            <a:pPr>
              <a:spcAft>
                <a:spcPts val="1200"/>
              </a:spcAft>
              <a:defRPr sz="1800"/>
            </a:pPr>
            <a:r>
              <a:t>Central Territory: Mid-range performance (14.9%) - opportunity for improvement</a:t>
            </a:r>
          </a:p>
          <a:p>
            <a:pPr>
              <a:spcAft>
                <a:spcPts val="1200"/>
              </a:spcAft>
              <a:defRPr sz="1800"/>
            </a:pPr>
            <a:r>
              <a:t>Tucson Territory: New market with 100% retention - continue expansion strategy</a:t>
            </a:r>
          </a:p>
          <a:p>
            <a:pPr>
              <a:spcAft>
                <a:spcPts val="1200"/>
              </a:spcAft>
              <a:defRPr sz="1800"/>
            </a:pPr>
            <a:r>
              <a:t>Action Items: Focus on retention programs in West/Central; leverage East's success 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/>
            </a:pPr>
            <a:r>
              <a:t>1. Territory Implementation: Roll out new territory structure Q1 2027</a:t>
            </a:r>
          </a:p>
          <a:p>
            <a:pPr>
              <a:spcAft>
                <a:spcPts val="1200"/>
              </a:spcAft>
              <a:defRPr sz="1800"/>
            </a:pPr>
            <a:r>
              <a:t>2. Retention Programs: Deploy targeted retention campaigns in West &amp; Central</a:t>
            </a:r>
          </a:p>
          <a:p>
            <a:pPr>
              <a:spcAft>
                <a:spcPts val="1200"/>
              </a:spcAft>
              <a:defRPr sz="1800"/>
            </a:pPr>
            <a:r>
              <a:t>3. Performance Monitoring: Establish quarterly KPI reviews for each territory</a:t>
            </a:r>
          </a:p>
          <a:p>
            <a:pPr>
              <a:spcAft>
                <a:spcPts val="1200"/>
              </a:spcAft>
              <a:defRPr sz="1800"/>
            </a:pPr>
            <a:r>
              <a:t>4. Best Practice Sharing: Document and share East territory's success strategies</a:t>
            </a:r>
          </a:p>
          <a:p>
            <a:pPr>
              <a:spcAft>
                <a:spcPts val="1200"/>
              </a:spcAft>
              <a:defRPr sz="1800"/>
            </a:pPr>
            <a:r>
              <a:t>5. Resource Allocation: Align staffing and resources based on account density</a:t>
            </a:r>
          </a:p>
          <a:p>
            <a:pPr>
              <a:spcAft>
                <a:spcPts val="1200"/>
              </a:spcAft>
              <a:defRPr sz="1800"/>
            </a:pPr>
            <a:r>
              <a:t>6. Technology: Implement territory-specific CRM tracking and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